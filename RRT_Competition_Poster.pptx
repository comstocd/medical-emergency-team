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114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200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Integration into Rapid Response System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200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Improvement Initiative for Medical Emergency Team Implementation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00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Guthrie Lourdes Hospital  |  Internal Medicine Residency Program  |  July 2024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9319200" y="73152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GUTHRIE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13716000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9204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5577840"/>
            <a:ext cx="1371600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852160"/>
            <a:ext cx="1316736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Response Systems (RRS) are a critical patient safety intervention designed to identify and treat deteriorating patients before adverse outcomes occur.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Society of Critical Care Medicine (SCCM) 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recommends hospital-wide deployment of RRS with explicit activation criteria for non-ICU patients.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evidence findings: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Physician involvement on MET teams correlates with improved outcomes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Educational efforts over ≥1 year are needed for cultural change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Non-punitive activation policies improve utilization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 breakdowns are a leading cause of RRT failures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11704320"/>
            <a:ext cx="13716000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184148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57200" y="12527280"/>
            <a:ext cx="13716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2755880"/>
            <a:ext cx="13167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"Poor hospital safety culture, communication breakdown, and inadequate event detection mechanisms identified as barriers to RRT success"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Fischer et al., JAMA 2021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 at Guthrie Lourdes: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 adherence concerns between nursing and physicians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 for standardized resident involvement in acute care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Opportunity to align with Guthrie Robert Packer Hospital initiatives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0"/>
            <a:ext cx="13716000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7053560"/>
            <a:ext cx="1316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457200" y="17739360"/>
            <a:ext cx="13716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7967960"/>
            <a:ext cx="13167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Objective: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Internal Medicine residents as core members of a Medical Emergency Team to improve patient outcomes and resident education.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Objectives: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Reduce unexpected cardiac arrests on general wards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Improve timeliness of critical care interventions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Enhance nurse-physician teamwork and communication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Facilitate appropriate goals-of-care discussions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4630400" y="4754880"/>
            <a:ext cx="14173200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14904720" y="489204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4630400" y="5577840"/>
            <a:ext cx="14173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0" y="5760720"/>
            <a:ext cx="1362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Composition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904720" y="6309360"/>
          <a:ext cx="13624560" cy="3840480"/>
        </p:xfrm>
        <a:graphic>
          <a:graphicData uri="http://schemas.openxmlformats.org/drawingml/2006/table">
            <a:tbl>
              <a:tblPr/>
              <a:tblGrid>
                <a:gridCol w="3657600"/>
                <a:gridCol w="6400800"/>
                <a:gridCol w="3200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Personnel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 Team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Residents (PGY-1 to PGY-3)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ICU Nursing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ICU RN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Respiratory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Respiratory Therapist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Pharmacy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Pharmacist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available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RRT Coordinator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14630400" y="10698480"/>
            <a:ext cx="1417320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0" y="10881360"/>
            <a:ext cx="1362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Criteria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4904720" y="11430000"/>
            <a:ext cx="136245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Physiologic Triggers: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Respiratory: RR &lt;8 or &gt;28, SpO₂ &lt;90% on O₂, respiratory distress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Circulation: HR &lt;40 or &gt;130, SBP &lt;90, new arrhythmia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Neurologic: Acute change in consciousness, new confusion, seizure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Other: Temp &lt;35°C or &gt;39.5°C, significant bleeding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"Worried" Criterion: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activate the RRT for any reason based on clinical concern, even if physiologic criteria are not met.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Non-Punitive Policy: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staff member will face criticism for activating the RRT. "Over-activation" is preferable to delayed activation.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14630400" y="16642080"/>
            <a:ext cx="1417320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904720" y="16824960"/>
            <a:ext cx="1362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Team Roles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4904720" y="17373600"/>
            <a:ext cx="4389120" cy="1463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1" name="Text 28"/>
          <p:cNvSpPr/>
          <p:nvPr/>
        </p:nvSpPr>
        <p:spPr>
          <a:xfrm>
            <a:off x="14904720" y="17465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4996160" y="178308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response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clinical decisions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Communicates with attending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9568160" y="17373600"/>
            <a:ext cx="4389120" cy="1463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4" name="Text 31"/>
          <p:cNvSpPr/>
          <p:nvPr/>
        </p:nvSpPr>
        <p:spPr>
          <a:xfrm>
            <a:off x="19568160" y="17465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BEDSIDE ASSESSMENT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9659600" y="178308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ABCD assessment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&amp; interventions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to Team Leader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24231600" y="17373600"/>
            <a:ext cx="4389120" cy="1463040"/>
          </a:xfrm>
          <a:prstGeom prst="rect">
            <a:avLst/>
          </a:prstGeom>
          <a:solidFill>
            <a:srgbClr val="566573"/>
          </a:solidFill>
          <a:ln/>
        </p:spPr>
      </p:sp>
      <p:sp>
        <p:nvSpPr>
          <p:cNvPr id="37" name="Text 34"/>
          <p:cNvSpPr/>
          <p:nvPr/>
        </p:nvSpPr>
        <p:spPr>
          <a:xfrm>
            <a:off x="24231600" y="17465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REVIEW/ORDERS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4323040" y="178308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EMR &amp; history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 orders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with teams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4904720" y="19110960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SBAR Communication Framework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14904720" y="19568160"/>
            <a:ext cx="1362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ituation  •  </a:t>
            </a:r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ackground  •  </a:t>
            </a:r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ssessment  •  </a:t>
            </a:r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ecommendation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14904720" y="20025360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communication for activation, handoffs, and escalation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29260800" y="4754880"/>
            <a:ext cx="14173200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3" name="Text 40"/>
          <p:cNvSpPr/>
          <p:nvPr/>
        </p:nvSpPr>
        <p:spPr>
          <a:xfrm>
            <a:off x="29535120" y="489204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3200" dirty="0"/>
          </a:p>
        </p:txBody>
      </p:sp>
      <p:sp>
        <p:nvSpPr>
          <p:cNvPr id="44" name="Shape 41"/>
          <p:cNvSpPr/>
          <p:nvPr/>
        </p:nvSpPr>
        <p:spPr>
          <a:xfrm>
            <a:off x="29260800" y="5577840"/>
            <a:ext cx="14173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9718000" y="5943600"/>
            <a:ext cx="457200" cy="45720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46" name="Shape 43"/>
          <p:cNvSpPr/>
          <p:nvPr/>
        </p:nvSpPr>
        <p:spPr>
          <a:xfrm>
            <a:off x="29919168" y="6400800"/>
            <a:ext cx="54864" cy="82296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7" name="Text 44"/>
          <p:cNvSpPr/>
          <p:nvPr/>
        </p:nvSpPr>
        <p:spPr>
          <a:xfrm>
            <a:off x="3035808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1-2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3375600" y="5897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30358080" y="626364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protocols, establish governance, collect baseline data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29718000" y="722376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51" name="Shape 48"/>
          <p:cNvSpPr/>
          <p:nvPr/>
        </p:nvSpPr>
        <p:spPr>
          <a:xfrm>
            <a:off x="29919168" y="7680960"/>
            <a:ext cx="54864" cy="82296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52" name="Text 49"/>
          <p:cNvSpPr/>
          <p:nvPr/>
        </p:nvSpPr>
        <p:spPr>
          <a:xfrm>
            <a:off x="30358080" y="7178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3-4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33375600" y="7178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30358080" y="75438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residents &amp; nursing, conduct simulations, establish registry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29718000" y="850392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6" name="Shape 53"/>
          <p:cNvSpPr/>
          <p:nvPr/>
        </p:nvSpPr>
        <p:spPr>
          <a:xfrm>
            <a:off x="29919168" y="8961120"/>
            <a:ext cx="54864" cy="82296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57" name="Text 54"/>
          <p:cNvSpPr/>
          <p:nvPr/>
        </p:nvSpPr>
        <p:spPr>
          <a:xfrm>
            <a:off x="30358080" y="8458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33375600" y="8458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30358080" y="882396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go-live on select units, intensive monitoring, rapid-cycle improvement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29718000" y="97840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1" name="Shape 58"/>
          <p:cNvSpPr/>
          <p:nvPr/>
        </p:nvSpPr>
        <p:spPr>
          <a:xfrm>
            <a:off x="29919168" y="10241280"/>
            <a:ext cx="54864" cy="82296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2" name="Text 59"/>
          <p:cNvSpPr/>
          <p:nvPr/>
        </p:nvSpPr>
        <p:spPr>
          <a:xfrm>
            <a:off x="30358080" y="9738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3375600" y="9738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LAUNCH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30358080" y="1010412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Hospital-wide implementation, routine data collection begins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29718000" y="110642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6" name="Text 63"/>
          <p:cNvSpPr/>
          <p:nvPr/>
        </p:nvSpPr>
        <p:spPr>
          <a:xfrm>
            <a:off x="30358080" y="11018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7-12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33375600" y="11018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30358080" y="1138428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QI monitoring, quarterly simulations, annual evaluation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29260800" y="12527280"/>
            <a:ext cx="14173200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0" name="Text 67"/>
          <p:cNvSpPr/>
          <p:nvPr/>
        </p:nvSpPr>
        <p:spPr>
          <a:xfrm>
            <a:off x="29535120" y="1266444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3200" dirty="0"/>
          </a:p>
        </p:txBody>
      </p:sp>
      <p:sp>
        <p:nvSpPr>
          <p:cNvPr id="71" name="Shape 68"/>
          <p:cNvSpPr/>
          <p:nvPr/>
        </p:nvSpPr>
        <p:spPr>
          <a:xfrm>
            <a:off x="29260800" y="13350240"/>
            <a:ext cx="1417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9535120" y="13533120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Third International Consensus Conference on RRS: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29535120" y="13990320"/>
            <a:ext cx="13624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Cardiac arrests in general ward patients (primary outcome)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Predictable cardiac arrests (deterioration in preceding 24h)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Timeliness of escalation (trigger to activation)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 to team arrival at bedside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Critical care intervention timeliness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Treatment goals/code status documentation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RRT activation rate per 1000 admissions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Patient/family activation utilization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safety culture survey results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29260800" y="18196560"/>
            <a:ext cx="1417320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5" name="Text 72"/>
          <p:cNvSpPr/>
          <p:nvPr/>
        </p:nvSpPr>
        <p:spPr>
          <a:xfrm>
            <a:off x="29535120" y="18333720"/>
            <a:ext cx="1362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76" name="Shape 73"/>
          <p:cNvSpPr/>
          <p:nvPr/>
        </p:nvSpPr>
        <p:spPr>
          <a:xfrm>
            <a:off x="29260800" y="19019520"/>
            <a:ext cx="1417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9535120" y="19202400"/>
            <a:ext cx="4297680" cy="13716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8" name="Text 75"/>
          <p:cNvSpPr/>
          <p:nvPr/>
        </p:nvSpPr>
        <p:spPr>
          <a:xfrm>
            <a:off x="29535120" y="19248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600" dirty="0"/>
          </a:p>
        </p:txBody>
      </p:sp>
      <p:sp>
        <p:nvSpPr>
          <p:cNvPr id="79" name="Text 76"/>
          <p:cNvSpPr/>
          <p:nvPr/>
        </p:nvSpPr>
        <p:spPr>
          <a:xfrm>
            <a:off x="29535120" y="19751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Cardiac Arrests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34107120" y="19202400"/>
            <a:ext cx="4297680" cy="13716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1" name="Text 78"/>
          <p:cNvSpPr/>
          <p:nvPr/>
        </p:nvSpPr>
        <p:spPr>
          <a:xfrm>
            <a:off x="34107120" y="19248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600" dirty="0"/>
          </a:p>
        </p:txBody>
      </p:sp>
      <p:sp>
        <p:nvSpPr>
          <p:cNvPr id="82" name="Text 79"/>
          <p:cNvSpPr/>
          <p:nvPr/>
        </p:nvSpPr>
        <p:spPr>
          <a:xfrm>
            <a:off x="34107120" y="19751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In-Hospital Mortality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38679120" y="19202400"/>
            <a:ext cx="4297680" cy="13716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4" name="Text 81"/>
          <p:cNvSpPr/>
          <p:nvPr/>
        </p:nvSpPr>
        <p:spPr>
          <a:xfrm>
            <a:off x="38679120" y="19248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3600" dirty="0"/>
          </a:p>
        </p:txBody>
      </p:sp>
      <p:sp>
        <p:nvSpPr>
          <p:cNvPr id="85" name="Text 82"/>
          <p:cNvSpPr/>
          <p:nvPr/>
        </p:nvSpPr>
        <p:spPr>
          <a:xfrm>
            <a:off x="38679120" y="19751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Satisfaction &amp; Safety Culture</a:t>
            </a:r>
            <a:endParaRPr lang="en-US" sz="1600" dirty="0"/>
          </a:p>
        </p:txBody>
      </p:sp>
      <p:sp>
        <p:nvSpPr>
          <p:cNvPr id="86" name="Shape 83"/>
          <p:cNvSpPr/>
          <p:nvPr/>
        </p:nvSpPr>
        <p:spPr>
          <a:xfrm>
            <a:off x="457200" y="22677120"/>
            <a:ext cx="21031200" cy="22860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7" name="Text 84"/>
          <p:cNvSpPr/>
          <p:nvPr/>
        </p:nvSpPr>
        <p:spPr>
          <a:xfrm>
            <a:off x="731520" y="22860000"/>
            <a:ext cx="2048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"Outcome improvements were most consistently observed when the study period was a minimum of 1 year with accompanying educational efforts. This implies that education and time are necessary to achieve cultural change for meaningful use of an RRT system."</a:t>
            </a:r>
            <a:endParaRPr lang="en-US" sz="2200" dirty="0"/>
          </a:p>
        </p:txBody>
      </p:sp>
      <p:sp>
        <p:nvSpPr>
          <p:cNvPr id="88" name="Text 85"/>
          <p:cNvSpPr/>
          <p:nvPr/>
        </p:nvSpPr>
        <p:spPr>
          <a:xfrm>
            <a:off x="731520" y="24323040"/>
            <a:ext cx="2048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Fischer et al., JAMA 2021</a:t>
            </a:r>
            <a:endParaRPr lang="en-US" sz="1800" dirty="0"/>
          </a:p>
        </p:txBody>
      </p:sp>
      <p:sp>
        <p:nvSpPr>
          <p:cNvPr id="89" name="Shape 86"/>
          <p:cNvSpPr/>
          <p:nvPr/>
        </p:nvSpPr>
        <p:spPr>
          <a:xfrm>
            <a:off x="21945600" y="22677120"/>
            <a:ext cx="21488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2219920" y="22860000"/>
            <a:ext cx="2103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2400" dirty="0"/>
          </a:p>
        </p:txBody>
      </p:sp>
      <p:sp>
        <p:nvSpPr>
          <p:cNvPr id="91" name="Text 88"/>
          <p:cNvSpPr/>
          <p:nvPr/>
        </p:nvSpPr>
        <p:spPr>
          <a:xfrm>
            <a:off x="22219920" y="23408640"/>
            <a:ext cx="2103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 over hierarchy     </a:t>
            </a:r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Non-punitive activation     </a:t>
            </a:r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right, not who is right"</a:t>
            </a:r>
            <a:endParaRPr lang="en-US" sz="2000" dirty="0"/>
          </a:p>
        </p:txBody>
      </p:sp>
      <p:sp>
        <p:nvSpPr>
          <p:cNvPr id="92" name="Text 89"/>
          <p:cNvSpPr/>
          <p:nvPr/>
        </p:nvSpPr>
        <p:spPr>
          <a:xfrm>
            <a:off x="22219920" y="23957280"/>
            <a:ext cx="2103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SBAR communication     </a:t>
            </a:r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QI &amp; debriefing     </a:t>
            </a:r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protocols</a:t>
            </a:r>
            <a:endParaRPr lang="en-US" sz="2000" dirty="0"/>
          </a:p>
        </p:txBody>
      </p:sp>
      <p:sp>
        <p:nvSpPr>
          <p:cNvPr id="93" name="Shape 90"/>
          <p:cNvSpPr/>
          <p:nvPr/>
        </p:nvSpPr>
        <p:spPr>
          <a:xfrm>
            <a:off x="457200" y="25237440"/>
            <a:ext cx="42976800" cy="640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4" name="Text 91"/>
          <p:cNvSpPr/>
          <p:nvPr/>
        </p:nvSpPr>
        <p:spPr>
          <a:xfrm>
            <a:off x="731520" y="25328880"/>
            <a:ext cx="4242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95" name="Shape 92"/>
          <p:cNvSpPr/>
          <p:nvPr/>
        </p:nvSpPr>
        <p:spPr>
          <a:xfrm>
            <a:off x="457200" y="25877520"/>
            <a:ext cx="42976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31520" y="26060400"/>
            <a:ext cx="4242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SCCM. Guidelines on Recognizing and Responding to Clinical Deterioration Outside the ICU. Crit Care Med. 2023.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Fischer CP, Bilimoria KY, Ghaferi AA. Rapid Response Teams as a Patient Safety Practice for Failure to Rescue. JAMA. 2021;326(2):179-180.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AHRQ. Rapid Response Systems. PSNet Primer. 2019.  |  4. Royal College of Physicians. NEWS 2. 2017.  |  5. Jones DA, DeVita MA, Bellomo R. Rapid-response teams. NEJM. 2011;365(2):139-146.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Resuscitation Council UK. Quality metrics for RRS: Third International Consensus Conference. Resuscitation. 2019;141:1-12.  |  7. Shahid S, Thomas S. SBAR Communication Tool. Safety in Health. 2018;4:7.</a:t>
            </a:r>
            <a:endParaRPr lang="en-US" sz="1600" dirty="0"/>
          </a:p>
        </p:txBody>
      </p:sp>
      <p:sp>
        <p:nvSpPr>
          <p:cNvPr id="97" name="Shape 94"/>
          <p:cNvSpPr/>
          <p:nvPr/>
        </p:nvSpPr>
        <p:spPr>
          <a:xfrm>
            <a:off x="0" y="28712160"/>
            <a:ext cx="43891200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8" name="Text 95"/>
          <p:cNvSpPr/>
          <p:nvPr/>
        </p:nvSpPr>
        <p:spPr>
          <a:xfrm>
            <a:off x="457200" y="28895040"/>
            <a:ext cx="4297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Guthrie Lourdes Hospital Internal Medicine Residency Program  •  Binghamton, NY  •  This project aligns with ongoing improvement efforts at Guthrie Robert Packer Hospital</a:t>
            </a:r>
            <a:endParaRPr lang="en-US" sz="2000" dirty="0"/>
          </a:p>
        </p:txBody>
      </p:sp>
      <p:sp>
        <p:nvSpPr>
          <p:cNvPr id="99" name="Text 96"/>
          <p:cNvSpPr/>
          <p:nvPr/>
        </p:nvSpPr>
        <p:spPr>
          <a:xfrm>
            <a:off x="457200" y="29352240"/>
            <a:ext cx="429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or collaboration opportunities, please contact the Internal Medicine Residency Program</a:t>
            </a:r>
            <a:endParaRPr lang="en-US" sz="1800" dirty="0"/>
          </a:p>
        </p:txBody>
      </p:sp>
      <p:sp>
        <p:nvSpPr>
          <p:cNvPr id="100" name="Text 97"/>
          <p:cNvSpPr/>
          <p:nvPr/>
        </p:nvSpPr>
        <p:spPr>
          <a:xfrm>
            <a:off x="457200" y="30083760"/>
            <a:ext cx="4297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poster presents a quality improvement project proposal. Implementation pending institutional review and approval.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Resident Integration into Rapid Response System</dc:title>
  <dc:subject>PptxGenJS Presentation</dc:subject>
  <dc:creator>Guthrie Lourdes Hospital Internal Medicine Residency</dc:creator>
  <cp:lastModifiedBy>Guthrie Lourdes Hospital Internal Medicine Residency</cp:lastModifiedBy>
  <cp:revision>1</cp:revision>
  <dcterms:created xsi:type="dcterms:W3CDTF">2026-02-02T01:54:02Z</dcterms:created>
  <dcterms:modified xsi:type="dcterms:W3CDTF">2026-02-02T01:54:02Z</dcterms:modified>
</cp:coreProperties>
</file>